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projet de fin de semestre : une application mobile de rencontre, développée dans le cadre du cours de Programmation Orientée Objet. Le projet couvre l'ensemble du cycle de développement : conception, backend, frontend, et base de données.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commencer par vous présenter le projet et son architecture, puis je détaillerai les fonctionnalités principales. On passera ensuite à une démo live de l'application. Je conclurai par les aspects POO, l'usage de l'IA, et les difficultés que j'ai rencontrées.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L'idée est simple : reproduire l'expérience d'une vraie application de rencontre comme Tinder. L'utilisateur crée son profil, parcourt des profils proposés, peut les liker ou les passer. Quand deux personnes se likent mutuellement, c'est un match — et elles peuvent alors se parler.</a:t>
            </a:r>
          </a:p>
          <a:p/>
          <a:p>
            <a:r>
              <a:t>Mais au-delà du swipe basique, j'ai voulu aller plus loin : géolocalisation pour trouver des profils proches, messagerie instantanée avec indicateurs de lecture, messages vocaux, filtres de recherche, et des profils enrichis avec le style de vie, le type de relation recherché, et la taille.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fullstack. Le frontend est une application React Native développée avec Expo, qui tourne aussi bien sur iOS qu'Android. Le backend est une API REST en Python avec FastAPI. La base de données est Supabase, qui est un service PostgreSQL hébergé, que j'utilise aussi pour le stockage des fichiers.</a:t>
            </a:r>
          </a:p>
          <a:p/>
          <a:p>
            <a:r>
              <a:t>La communication se fait de deux façons : HTTP classique pour les requêtes standard, et WebSocket pour tout ce qui est temps réel — les messages, les indicateurs de frappe, les statuts en ligne.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backend expose une vingtaine d'endpoints REST. J'ai organisé le code en services séparés selon le principe de responsabilité unique : un service pour les utilisateurs, un pour les interactions comme le swipe et le matching, un pour les photos, un pour la logique de match.</a:t>
            </a:r>
          </a:p>
          <a:p/>
          <a:p>
            <a:r>
              <a:t>Les données entrantes sont validées automatiquement grâce aux modèles Pydantic. La gestion des mots de passe utilise bcrypt pour le hachage.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frontend, l'application est organisée en onglets. Le swipe est géré nativement avec PanResponder — l'API gesture de React Native — ce qui donne une sensation très fluide. Les animations sont gérées avec l'Animated API. Et pour renforcer le côté immersif, j'ai ajouté des sons et des vibrations à chaque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de données contient sept tables principales. La table users stocke les informations de profil, les coordonnées GPS et le token de notifications push. J'ai une table dislikes séparée pour gérer le cooldown de 24 heures — les profils repassés redeviennent visibles après 24 heures au lieu d'être cachés définitivement.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cœur de l'application, c'est le swipe. Quand l'utilisateur swipe à droite, une requête est envoyée au backend qui vérifie si l'autre personne a déjà liké aussi. Si oui, c'est un match — le backend crée l'entrée en base et envoie une notification push.</a:t>
            </a:r>
          </a:p>
          <a:p/>
          <a:p>
            <a:r>
              <a:t>Pour la distance, j'utilise la formule Haversine. Et pour préserver la vie privée, les coordonnées affichées sur la carte sont légèrement floues — décalées aléatoirement d'environ 800 mètres.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messagerie est entièrement temps réel via WebSocket. Chaque utilisateur connecté maintient une connexion persistante avec le serveur. Ça permet d'envoyer les messages instantanément, d'afficher l'indicateur de frappe, de montrer quand les messages sont lus, et de savoir si l'autre est en ligne. Si l'utilisateur est hors ligne, une notification push est envoyée via Expo.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faire une démonstration live de l'application.</a:t>
            </a:r>
          </a:p>
          <a:p/>
          <a:p>
            <a:r>
              <a:t>[Montrer sur le téléphone]</a:t>
            </a:r>
          </a:p>
          <a:p>
            <a:r>
              <a:t>1. L'écran de swipe avec les profils, la carte et les filtres</a:t>
            </a:r>
          </a:p>
          <a:p>
            <a:r>
              <a:t>2. Un swipe à droite avec le son et la vibration</a:t>
            </a:r>
          </a:p>
          <a:p>
            <a:r>
              <a:t>3. L'écran de match</a:t>
            </a:r>
          </a:p>
          <a:p>
            <a:r>
              <a:t>4. Envoyer un message dans le chat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l'aspect Programmation Orientée Objet, le backend utilise des classes Pydantic pour modéliser les données. UserCreate hérite de BaseModel et définit les champs avec leur type et leur validation automatique. C'est le principe d'encapsulation : la logique de validation est dans la classe.</a:t>
            </a:r>
          </a:p>
          <a:p/>
          <a:p>
            <a:r>
              <a:t>L'architecture en services séparés applique le principe d'encapsulation à l'échelle des modules. Chaque service est responsable d'un seul domaine métier.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utilisé Claude d'Anthropic comme assistant de développement. L'IA m'a aidé à générer les composants complexes — notamment le SwipeCard avec ses animations, la logique WebSocket, et l'algorithme Haversine. Tout le code généré est explicitement déclaré avec les marqueurs requis dans le sujet.</a:t>
            </a:r>
          </a:p>
          <a:p/>
          <a:p>
            <a:r>
              <a:t>Ce que j'ai fait manuellement : la conception de l'architecture, le schéma de la base de données, l'intégration avec Supabase, les tests sur appareil réel, et tous les ajustements d'UX après les tests. L'IA est un outil d'accélération, pas un remplaçant du raisonnement.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difficultés principales. D'abord, le WebSocket sur mobile : les connexions se coupent quand l'app passe en arrière-plan, j'ai dû gérer la reconnexion automatique. Ensuite, le date picker qui fonctionne différemment sur iOS et Android. Et enfin la performance du swipe : pour que les animations soient fluides, il faut utiliser le native driver et précharger la carte suivante.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 projet m'a permis de développer une application complète de bout en bout, avec des fonctionnalités réellement complexes — WebSocket, géolocalisation, notifications push, appels vidéo. Les axes d'amélioration sont nombreux : un algorithme de recommandation, une vérification d'identité, ou un système d'abonnement premium.</a:t>
            </a:r>
          </a:p>
          <a:p/>
          <a:p>
            <a:r>
              <a:t>Merci pour votre attention. Je suis disponible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48640" cy="685800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0" y="6217920"/>
            <a:ext cx="1371600" cy="457200"/>
          </a:xfrm>
          <a:prstGeom prst="rect">
            <a:avLst/>
          </a:prstGeom>
          <a:noFill/>
        </p:spPr>
        <p:txBody>
          <a:bodyPr wrap="square">
            <a:spAutoFit/>
          </a:bodyPr>
          <a:lstStyle/>
          <a:p>
            <a:pPr algn="r"/>
            <a:r>
              <a:rPr sz="1000" b="0">
                <a:solidFill>
                  <a:srgbClr val="6B7280"/>
                </a:solidFill>
              </a:rPr>
              <a:t>1/14</a:t>
            </a:r>
          </a:p>
        </p:txBody>
      </p:sp>
      <p:sp>
        <p:nvSpPr>
          <p:cNvPr id="4" name="TextBox 3"/>
          <p:cNvSpPr txBox="1"/>
          <p:nvPr/>
        </p:nvSpPr>
        <p:spPr>
          <a:xfrm>
            <a:off x="914400" y="2011680"/>
            <a:ext cx="10058400" cy="1280160"/>
          </a:xfrm>
          <a:prstGeom prst="rect">
            <a:avLst/>
          </a:prstGeom>
          <a:noFill/>
        </p:spPr>
        <p:txBody>
          <a:bodyPr wrap="square">
            <a:spAutoFit/>
          </a:bodyPr>
          <a:lstStyle/>
          <a:p>
            <a:pPr algn="l"/>
            <a:r>
              <a:rPr sz="4400" b="1">
                <a:solidFill>
                  <a:srgbClr val="FFFFFF"/>
                </a:solidFill>
              </a:rPr>
              <a:t>Application de Rencontre</a:t>
            </a:r>
          </a:p>
        </p:txBody>
      </p:sp>
      <p:sp>
        <p:nvSpPr>
          <p:cNvPr id="5" name="Rectangle 4"/>
          <p:cNvSpPr/>
          <p:nvPr/>
        </p:nvSpPr>
        <p:spPr>
          <a:xfrm>
            <a:off x="914400" y="3429000"/>
            <a:ext cx="2743200" cy="54864"/>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11880"/>
            <a:ext cx="10058400" cy="1097280"/>
          </a:xfrm>
          <a:prstGeom prst="rect">
            <a:avLst/>
          </a:prstGeom>
          <a:noFill/>
        </p:spPr>
        <p:txBody>
          <a:bodyPr wrap="square">
            <a:spAutoFit/>
          </a:bodyPr>
          <a:lstStyle/>
          <a:p>
            <a:pPr algn="l"/>
            <a:r>
              <a:rPr sz="1800" b="0">
                <a:solidFill>
                  <a:srgbClr val="F8F8FA"/>
                </a:solidFill>
              </a:rPr>
              <a:t>Lohan Vignals — Master 1 POO
Prof. Adrien Escourrou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Sommaire</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2/14</a:t>
            </a:r>
          </a:p>
        </p:txBody>
      </p:sp>
      <p:sp>
        <p:nvSpPr>
          <p:cNvPr id="6" name="TextBox 5"/>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1.  Présentation du projet</a:t>
            </a:r>
          </a:p>
          <a:p>
            <a:pPr>
              <a:spcBef>
                <a:spcPts val="400"/>
              </a:spcBef>
            </a:pPr>
            <a:r>
              <a:rPr sz="1500">
                <a:solidFill>
                  <a:srgbClr val="1A1A2E"/>
                </a:solidFill>
              </a:rPr>
              <a:t>2.  Architecture technique</a:t>
            </a:r>
          </a:p>
          <a:p>
            <a:pPr>
              <a:spcBef>
                <a:spcPts val="400"/>
              </a:spcBef>
            </a:pPr>
            <a:r>
              <a:rPr sz="1500">
                <a:solidFill>
                  <a:srgbClr val="1A1A2E"/>
                </a:solidFill>
              </a:rPr>
              <a:t>3.  Fonctionnalités principales</a:t>
            </a:r>
          </a:p>
          <a:p>
            <a:pPr>
              <a:spcBef>
                <a:spcPts val="400"/>
              </a:spcBef>
            </a:pPr>
            <a:r>
              <a:rPr sz="1500">
                <a:solidFill>
                  <a:srgbClr val="1A1A2E"/>
                </a:solidFill>
              </a:rPr>
              <a:t>4.  Démonstration live</a:t>
            </a:r>
          </a:p>
          <a:p>
            <a:pPr>
              <a:spcBef>
                <a:spcPts val="400"/>
              </a:spcBef>
            </a:pPr>
            <a:r>
              <a:rPr sz="1500">
                <a:solidFill>
                  <a:srgbClr val="1A1A2E"/>
                </a:solidFill>
              </a:rPr>
              <a:t>5.  Concepts POO</a:t>
            </a:r>
          </a:p>
          <a:p>
            <a:pPr>
              <a:spcBef>
                <a:spcPts val="400"/>
              </a:spcBef>
            </a:pPr>
            <a:r>
              <a:rPr sz="1500">
                <a:solidFill>
                  <a:srgbClr val="1A1A2E"/>
                </a:solidFill>
              </a:rPr>
              <a:t>6.  Usage de l'IA</a:t>
            </a:r>
          </a:p>
          <a:p>
            <a:pPr>
              <a:spcBef>
                <a:spcPts val="400"/>
              </a:spcBef>
            </a:pPr>
            <a:r>
              <a:rPr sz="1500">
                <a:solidFill>
                  <a:srgbClr val="1A1A2E"/>
                </a:solidFill>
              </a:rPr>
              <a:t>7.  Difficultés rencontrées</a:t>
            </a:r>
          </a:p>
          <a:p>
            <a:pPr>
              <a:spcBef>
                <a:spcPts val="400"/>
              </a:spcBef>
            </a:pPr>
            <a:r>
              <a:rPr sz="1500">
                <a:solidFill>
                  <a:srgbClr val="1A1A2E"/>
                </a:solidFill>
              </a:rPr>
              <a:t>8.  Conclusion &amp;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Présentation du projet</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3/14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Une appli de rencontre mobile complète</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  Swipe pour liker ou passer des profils</a:t>
            </a:r>
          </a:p>
          <a:p>
            <a:pPr>
              <a:spcBef>
                <a:spcPts val="400"/>
              </a:spcBef>
            </a:pPr>
            <a:r>
              <a:rPr sz="1500">
                <a:solidFill>
                  <a:srgbClr val="1A1A2E"/>
                </a:solidFill>
              </a:rPr>
              <a:t>✦  Matching mutuel → messagerie instantanée</a:t>
            </a:r>
          </a:p>
          <a:p>
            <a:pPr>
              <a:spcBef>
                <a:spcPts val="400"/>
              </a:spcBef>
            </a:pPr>
            <a:r>
              <a:rPr sz="1500">
                <a:solidFill>
                  <a:srgbClr val="1A1A2E"/>
                </a:solidFill>
              </a:rPr>
              <a:t>✦  Géolocalisation — trouver des profils proches</a:t>
            </a:r>
          </a:p>
          <a:p>
            <a:pPr>
              <a:spcBef>
                <a:spcPts val="400"/>
              </a:spcBef>
            </a:pPr>
            <a:r>
              <a:rPr sz="1500">
                <a:solidFill>
                  <a:srgbClr val="1A1A2E"/>
                </a:solidFill>
              </a:rPr>
              <a:t>✦  Profils enrichis : style de vie, type de relation, taille…</a:t>
            </a:r>
          </a:p>
          <a:p>
            <a:pPr>
              <a:spcBef>
                <a:spcPts val="400"/>
              </a:spcBef>
            </a:pPr>
            <a:r>
              <a:rPr sz="1500">
                <a:solidFill>
                  <a:srgbClr val="1A1A2E"/>
                </a:solidFill>
              </a:rPr>
              <a:t>✦  Sons, vibrations, notifications push</a:t>
            </a:r>
          </a:p>
          <a:p>
            <a:pPr>
              <a:spcBef>
                <a:spcPts val="400"/>
              </a:spcBef>
            </a:pPr>
            <a:r>
              <a:rPr sz="1500">
                <a:solidFill>
                  <a:srgbClr val="1A1A2E"/>
                </a:solidFill>
              </a:rPr>
              <a:t/>
            </a:r>
          </a:p>
          <a:p>
            <a:pPr>
              <a:spcBef>
                <a:spcPts val="400"/>
              </a:spcBef>
            </a:pPr>
            <a:r>
              <a:rPr sz="1500">
                <a:solidFill>
                  <a:srgbClr val="1A1A2E"/>
                </a:solidFill>
              </a:rPr>
              <a:t>Objectif : expérience fluide et réaliste d'une vraie application de rencontre.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Architecture technique</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4/14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Stack fullstack — Frontend · Backend · Base de données</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FRONTEND          React Native / Expo SDK 54   →   iOS &amp; Android</a:t>
            </a:r>
          </a:p>
          <a:p>
            <a:pPr>
              <a:spcBef>
                <a:spcPts val="400"/>
              </a:spcBef>
            </a:pPr>
            <a:r>
              <a:rPr sz="1500">
                <a:solidFill>
                  <a:srgbClr val="1A1A2E"/>
                </a:solidFill>
              </a:rPr>
              <a:t>BACKEND           FastAPI (Python 3.12)        →   API REST + WebSocket</a:t>
            </a:r>
          </a:p>
          <a:p>
            <a:pPr>
              <a:spcBef>
                <a:spcPts val="400"/>
              </a:spcBef>
            </a:pPr>
            <a:r>
              <a:rPr sz="1500">
                <a:solidFill>
                  <a:srgbClr val="1A1A2E"/>
                </a:solidFill>
              </a:rPr>
              <a:t>BASE DE DONNÉES   Supabase (PostgreSQL)        →   DB + Storage fichiers</a:t>
            </a:r>
          </a:p>
          <a:p>
            <a:pPr>
              <a:spcBef>
                <a:spcPts val="400"/>
              </a:spcBef>
            </a:pPr>
            <a:r>
              <a:rPr sz="1500">
                <a:solidFill>
                  <a:srgbClr val="1A1A2E"/>
                </a:solidFill>
              </a:rPr>
              <a:t/>
            </a:r>
          </a:p>
          <a:p>
            <a:pPr>
              <a:spcBef>
                <a:spcPts val="400"/>
              </a:spcBef>
            </a:pPr>
            <a:r>
              <a:rPr sz="1500">
                <a:solidFill>
                  <a:srgbClr val="1A1A2E"/>
                </a:solidFill>
              </a:rPr>
              <a:t>Communication :</a:t>
            </a:r>
          </a:p>
          <a:p>
            <a:pPr>
              <a:spcBef>
                <a:spcPts val="400"/>
              </a:spcBef>
            </a:pPr>
            <a:r>
              <a:rPr sz="1500">
                <a:solidFill>
                  <a:srgbClr val="1A1A2E"/>
                </a:solidFill>
              </a:rPr>
              <a:t>   • HTTP REST  — requêtes standard (profils, like, upload…)</a:t>
            </a:r>
          </a:p>
          <a:p>
            <a:pPr>
              <a:spcBef>
                <a:spcPts val="400"/>
              </a:spcBef>
            </a:pPr>
            <a:r>
              <a:rPr sz="1500">
                <a:solidFill>
                  <a:srgbClr val="1A1A2E"/>
                </a:solidFill>
              </a:rPr>
              <a:t>   • WebSocket  — temps réel (messages, statut en ligne, appels)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Backend — FastAPI</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5/14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20+ endpoints REST · Services séparés · Modèles Pydantic</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Services organisés par responsabilité :</a:t>
            </a:r>
          </a:p>
          <a:p>
            <a:pPr>
              <a:spcBef>
                <a:spcPts val="400"/>
              </a:spcBef>
            </a:pPr>
            <a:r>
              <a:rPr sz="1500">
                <a:solidFill>
                  <a:srgbClr val="1A1A2E"/>
                </a:solidFill>
              </a:rPr>
              <a:t>   UserService         →  inscription, connexion, mise à jour profil</a:t>
            </a:r>
          </a:p>
          <a:p>
            <a:pPr>
              <a:spcBef>
                <a:spcPts val="400"/>
              </a:spcBef>
            </a:pPr>
            <a:r>
              <a:rPr sz="1500">
                <a:solidFill>
                  <a:srgbClr val="1A1A2E"/>
                </a:solidFill>
              </a:rPr>
              <a:t>   InteractionService  →  swipe, matching, cooldown dislike</a:t>
            </a:r>
          </a:p>
          <a:p>
            <a:pPr>
              <a:spcBef>
                <a:spcPts val="400"/>
              </a:spcBef>
            </a:pPr>
            <a:r>
              <a:rPr sz="1500">
                <a:solidFill>
                  <a:srgbClr val="1A1A2E"/>
                </a:solidFill>
              </a:rPr>
              <a:t>   PhotoService        →  upload vers Supabase Storage</a:t>
            </a:r>
          </a:p>
          <a:p>
            <a:pPr>
              <a:spcBef>
                <a:spcPts val="400"/>
              </a:spcBef>
            </a:pPr>
            <a:r>
              <a:rPr sz="1500">
                <a:solidFill>
                  <a:srgbClr val="1A1A2E"/>
                </a:solidFill>
              </a:rPr>
              <a:t>   MatchService        →  détection de match mutuel</a:t>
            </a:r>
          </a:p>
          <a:p>
            <a:pPr>
              <a:spcBef>
                <a:spcPts val="400"/>
              </a:spcBef>
            </a:pPr>
            <a:r>
              <a:rPr sz="1500">
                <a:solidFill>
                  <a:srgbClr val="1A1A2E"/>
                </a:solidFill>
              </a:rPr>
              <a:t/>
            </a:r>
          </a:p>
          <a:p>
            <a:pPr>
              <a:spcBef>
                <a:spcPts val="400"/>
              </a:spcBef>
            </a:pPr>
            <a:r>
              <a:rPr sz="1500">
                <a:solidFill>
                  <a:srgbClr val="1A1A2E"/>
                </a:solidFill>
              </a:rPr>
              <a:t>Modèles Pydantic → validation automatique des données</a:t>
            </a:r>
          </a:p>
          <a:p>
            <a:pPr>
              <a:spcBef>
                <a:spcPts val="400"/>
              </a:spcBef>
            </a:pPr>
            <a:r>
              <a:rPr sz="1500">
                <a:solidFill>
                  <a:srgbClr val="1A1A2E"/>
                </a:solidFill>
              </a:rPr>
              <a:t>Authentification → hachage bcrypt des mots de passe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Frontend — React Native / Expo</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6/14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Application mobile iOS &amp; Android</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Écrans principaux :</a:t>
            </a:r>
          </a:p>
          <a:p>
            <a:pPr>
              <a:spcBef>
                <a:spcPts val="400"/>
              </a:spcBef>
            </a:pPr>
            <a:r>
              <a:rPr sz="1500">
                <a:solidFill>
                  <a:srgbClr val="1A1A2E"/>
                </a:solidFill>
              </a:rPr>
              <a:t>   HomeScreen      →  swipe de profils</a:t>
            </a:r>
          </a:p>
          <a:p>
            <a:pPr>
              <a:spcBef>
                <a:spcPts val="400"/>
              </a:spcBef>
            </a:pPr>
            <a:r>
              <a:rPr sz="1500">
                <a:solidFill>
                  <a:srgbClr val="1A1A2E"/>
                </a:solidFill>
              </a:rPr>
              <a:t>   MatchesScreen   →  liste des matchs</a:t>
            </a:r>
          </a:p>
          <a:p>
            <a:pPr>
              <a:spcBef>
                <a:spcPts val="400"/>
              </a:spcBef>
            </a:pPr>
            <a:r>
              <a:rPr sz="1500">
                <a:solidFill>
                  <a:srgbClr val="1A1A2E"/>
                </a:solidFill>
              </a:rPr>
              <a:t>   ChatScreen      →  messagerie</a:t>
            </a:r>
          </a:p>
          <a:p>
            <a:pPr>
              <a:spcBef>
                <a:spcPts val="400"/>
              </a:spcBef>
            </a:pPr>
            <a:r>
              <a:rPr sz="1500">
                <a:solidFill>
                  <a:srgbClr val="1A1A2E"/>
                </a:solidFill>
              </a:rPr>
              <a:t>   ProfileScreen   →  édition du profil</a:t>
            </a:r>
          </a:p>
          <a:p>
            <a:pPr>
              <a:spcBef>
                <a:spcPts val="400"/>
              </a:spcBef>
            </a:pPr>
            <a:r>
              <a:rPr sz="1500">
                <a:solidFill>
                  <a:srgbClr val="1A1A2E"/>
                </a:solidFill>
              </a:rPr>
              <a:t>   MapScreen       →  carte géolocalisée</a:t>
            </a:r>
          </a:p>
          <a:p>
            <a:pPr>
              <a:spcBef>
                <a:spcPts val="400"/>
              </a:spcBef>
            </a:pPr>
            <a:r>
              <a:rPr sz="1500">
                <a:solidFill>
                  <a:srgbClr val="1A1A2E"/>
                </a:solidFill>
              </a:rPr>
              <a:t>   FiltersScreen   →  filtres de recherche</a:t>
            </a:r>
          </a:p>
          <a:p>
            <a:pPr>
              <a:spcBef>
                <a:spcPts val="400"/>
              </a:spcBef>
            </a:pPr>
            <a:r>
              <a:rPr sz="1500">
                <a:solidFill>
                  <a:srgbClr val="1A1A2E"/>
                </a:solidFill>
              </a:rPr>
              <a:t/>
            </a:r>
          </a:p>
          <a:p>
            <a:pPr>
              <a:spcBef>
                <a:spcPts val="400"/>
              </a:spcBef>
            </a:pPr>
            <a:r>
              <a:rPr sz="1500">
                <a:solidFill>
                  <a:srgbClr val="1A1A2E"/>
                </a:solidFill>
              </a:rPr>
              <a:t>Gestes natifs PanResponder · Animated API · expo-av / expo-haptics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Base de données — Supabase</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7/14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PostgreSQL hébergé + Storage fichiers</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users      →  profil, coordonnées GPS, push_token</a:t>
            </a:r>
          </a:p>
          <a:p>
            <a:pPr>
              <a:spcBef>
                <a:spcPts val="400"/>
              </a:spcBef>
            </a:pPr>
            <a:r>
              <a:rPr sz="1500">
                <a:solidFill>
                  <a:srgbClr val="1A1A2E"/>
                </a:solidFill>
              </a:rPr>
              <a:t>photos     →  photos multiples par utilisateur</a:t>
            </a:r>
          </a:p>
          <a:p>
            <a:pPr>
              <a:spcBef>
                <a:spcPts val="400"/>
              </a:spcBef>
            </a:pPr>
            <a:r>
              <a:rPr sz="1500">
                <a:solidFill>
                  <a:srgbClr val="1A1A2E"/>
                </a:solidFill>
              </a:rPr>
              <a:t>likes      →  historique des swipes droits</a:t>
            </a:r>
          </a:p>
          <a:p>
            <a:pPr>
              <a:spcBef>
                <a:spcPts val="400"/>
              </a:spcBef>
            </a:pPr>
            <a:r>
              <a:rPr sz="1500">
                <a:solidFill>
                  <a:srgbClr val="1A1A2E"/>
                </a:solidFill>
              </a:rPr>
              <a:t>dislikes   →  cooldown 24h avant re-proposition</a:t>
            </a:r>
          </a:p>
          <a:p>
            <a:pPr>
              <a:spcBef>
                <a:spcPts val="400"/>
              </a:spcBef>
            </a:pPr>
            <a:r>
              <a:rPr sz="1500">
                <a:solidFill>
                  <a:srgbClr val="1A1A2E"/>
                </a:solidFill>
              </a:rPr>
              <a:t>matches    →  paires formées après match mutuel</a:t>
            </a:r>
          </a:p>
          <a:p>
            <a:pPr>
              <a:spcBef>
                <a:spcPts val="400"/>
              </a:spcBef>
            </a:pPr>
            <a:r>
              <a:rPr sz="1500">
                <a:solidFill>
                  <a:srgbClr val="1A1A2E"/>
                </a:solidFill>
              </a:rPr>
              <a:t>messages   →  texte, audio, réactions</a:t>
            </a:r>
          </a:p>
          <a:p>
            <a:pPr>
              <a:spcBef>
                <a:spcPts val="400"/>
              </a:spcBef>
            </a:pPr>
            <a:r>
              <a:rPr sz="1500">
                <a:solidFill>
                  <a:srgbClr val="1A1A2E"/>
                </a:solidFill>
              </a:rPr>
              <a:t>blocks     →  signalements / blocages</a:t>
            </a:r>
          </a:p>
          <a:p>
            <a:pPr>
              <a:spcBef>
                <a:spcPts val="400"/>
              </a:spcBef>
            </a:pPr>
            <a:r>
              <a:rPr sz="1500">
                <a:solidFill>
                  <a:srgbClr val="1A1A2E"/>
                </a:solidFill>
              </a:rPr>
              <a:t/>
            </a:r>
          </a:p>
          <a:p>
            <a:pPr>
              <a:spcBef>
                <a:spcPts val="400"/>
              </a:spcBef>
            </a:pPr>
            <a:r>
              <a:rPr sz="1500">
                <a:solidFill>
                  <a:srgbClr val="1A1A2E"/>
                </a:solidFill>
              </a:rPr>
              <a:t>Storage : photos de profil · messages vocaux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Fonctionnalité : Swipe &amp; Matching</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8/14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Le cœur de l'application</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Geste natif gauche/droite  ou  boutons ❌ / ♥</a:t>
            </a:r>
          </a:p>
          <a:p>
            <a:pPr>
              <a:spcBef>
                <a:spcPts val="400"/>
              </a:spcBef>
            </a:pPr>
            <a:r>
              <a:rPr sz="1500">
                <a:solidFill>
                  <a:srgbClr val="1A1A2E"/>
                </a:solidFill>
              </a:rPr>
              <a:t/>
            </a:r>
          </a:p>
          <a:p>
            <a:pPr>
              <a:spcBef>
                <a:spcPts val="400"/>
              </a:spcBef>
            </a:pPr>
            <a:r>
              <a:rPr sz="1500">
                <a:solidFill>
                  <a:srgbClr val="1A1A2E"/>
                </a:solidFill>
              </a:rPr>
              <a:t>Algorithme de matching :</a:t>
            </a:r>
          </a:p>
          <a:p>
            <a:pPr>
              <a:spcBef>
                <a:spcPts val="400"/>
              </a:spcBef>
            </a:pPr>
            <a:r>
              <a:rPr sz="1500">
                <a:solidFill>
                  <a:srgbClr val="1A1A2E"/>
                </a:solidFill>
              </a:rPr>
              <a:t>   → A like B  +  B a déjà liké A  →  MATCH !</a:t>
            </a:r>
          </a:p>
          <a:p>
            <a:pPr>
              <a:spcBef>
                <a:spcPts val="400"/>
              </a:spcBef>
            </a:pPr>
            <a:r>
              <a:rPr sz="1500">
                <a:solidFill>
                  <a:srgbClr val="1A1A2E"/>
                </a:solidFill>
              </a:rPr>
              <a:t>   → Notification push envoyée immédiatement</a:t>
            </a:r>
          </a:p>
          <a:p>
            <a:pPr>
              <a:spcBef>
                <a:spcPts val="400"/>
              </a:spcBef>
            </a:pPr>
            <a:r>
              <a:rPr sz="1500">
                <a:solidFill>
                  <a:srgbClr val="1A1A2E"/>
                </a:solidFill>
              </a:rPr>
              <a:t/>
            </a:r>
          </a:p>
          <a:p>
            <a:pPr>
              <a:spcBef>
                <a:spcPts val="400"/>
              </a:spcBef>
            </a:pPr>
            <a:r>
              <a:rPr sz="1500">
                <a:solidFill>
                  <a:srgbClr val="1A1A2E"/>
                </a:solidFill>
              </a:rPr>
              <a:t>Cooldown dislike : 24 heures</a:t>
            </a:r>
          </a:p>
          <a:p>
            <a:pPr>
              <a:spcBef>
                <a:spcPts val="400"/>
              </a:spcBef>
            </a:pPr>
            <a:r>
              <a:rPr sz="1500">
                <a:solidFill>
                  <a:srgbClr val="1A1A2E"/>
                </a:solidFill>
              </a:rPr>
              <a:t>   → Les profils passés sont re-proposés après 24h</a:t>
            </a:r>
          </a:p>
          <a:p>
            <a:pPr>
              <a:spcBef>
                <a:spcPts val="400"/>
              </a:spcBef>
            </a:pPr>
            <a:r>
              <a:rPr sz="1500">
                <a:solidFill>
                  <a:srgbClr val="1A1A2E"/>
                </a:solidFill>
              </a:rPr>
              <a:t/>
            </a:r>
          </a:p>
          <a:p>
            <a:pPr>
              <a:spcBef>
                <a:spcPts val="400"/>
              </a:spcBef>
            </a:pPr>
            <a:r>
              <a:rPr sz="1500">
                <a:solidFill>
                  <a:srgbClr val="1A1A2E"/>
                </a:solidFill>
              </a:rPr>
              <a:t>Filtres : âge min/max · distance maximale (km)</a:t>
            </a:r>
          </a:p>
          <a:p>
            <a:pPr>
              <a:spcBef>
                <a:spcPts val="400"/>
              </a:spcBef>
            </a:pPr>
            <a:r>
              <a:rPr sz="1500">
                <a:solidFill>
                  <a:srgbClr val="1A1A2E"/>
                </a:solidFill>
              </a:rPr>
              <a:t>Distance calculée par formule Haversine (GPS)</a:t>
            </a:r>
          </a:p>
          <a:p>
            <a:pPr>
              <a:spcBef>
                <a:spcPts val="400"/>
              </a:spcBef>
            </a:pPr>
            <a:r>
              <a:rPr sz="1500">
                <a:solidFill>
                  <a:srgbClr val="1A1A2E"/>
                </a:solidFill>
              </a:rPr>
              <a:t>Coordonnées floutées ±800m pour la vie privée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Fonctionnalité : Messagerie temps réel</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9/14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WebSocket + notifications push</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WebSocket persistent par utilisateur connecté</a:t>
            </a:r>
          </a:p>
          <a:p>
            <a:pPr>
              <a:spcBef>
                <a:spcPts val="400"/>
              </a:spcBef>
            </a:pPr>
            <a:r>
              <a:rPr sz="1500">
                <a:solidFill>
                  <a:srgbClr val="1A1A2E"/>
                </a:solidFill>
              </a:rPr>
              <a:t/>
            </a:r>
          </a:p>
          <a:p>
            <a:pPr>
              <a:spcBef>
                <a:spcPts val="400"/>
              </a:spcBef>
            </a:pPr>
            <a:r>
              <a:rPr sz="1500">
                <a:solidFill>
                  <a:srgbClr val="1A1A2E"/>
                </a:solidFill>
              </a:rPr>
              <a:t>Indicateurs temps réel :</a:t>
            </a:r>
          </a:p>
          <a:p>
            <a:pPr>
              <a:spcBef>
                <a:spcPts val="400"/>
              </a:spcBef>
            </a:pPr>
            <a:r>
              <a:rPr sz="1500">
                <a:solidFill>
                  <a:srgbClr val="1A1A2E"/>
                </a:solidFill>
              </a:rPr>
              <a:t>   ✓  « En train d'écrire... »</a:t>
            </a:r>
          </a:p>
          <a:p>
            <a:pPr>
              <a:spcBef>
                <a:spcPts val="400"/>
              </a:spcBef>
            </a:pPr>
            <a:r>
              <a:rPr sz="1500">
                <a:solidFill>
                  <a:srgbClr val="1A1A2E"/>
                </a:solidFill>
              </a:rPr>
              <a:t>   ✓  « Vu » — messages lus</a:t>
            </a:r>
          </a:p>
          <a:p>
            <a:pPr>
              <a:spcBef>
                <a:spcPts val="400"/>
              </a:spcBef>
            </a:pPr>
            <a:r>
              <a:rPr sz="1500">
                <a:solidFill>
                  <a:srgbClr val="1A1A2E"/>
                </a:solidFill>
              </a:rPr>
              <a:t>   ✓  Statut en ligne / hors ligne</a:t>
            </a:r>
          </a:p>
          <a:p>
            <a:pPr>
              <a:spcBef>
                <a:spcPts val="400"/>
              </a:spcBef>
            </a:pPr>
            <a:r>
              <a:rPr sz="1500">
                <a:solidFill>
                  <a:srgbClr val="1A1A2E"/>
                </a:solidFill>
              </a:rPr>
              <a:t/>
            </a:r>
          </a:p>
          <a:p>
            <a:pPr>
              <a:spcBef>
                <a:spcPts val="400"/>
              </a:spcBef>
            </a:pPr>
            <a:r>
              <a:rPr sz="1500">
                <a:solidFill>
                  <a:srgbClr val="1A1A2E"/>
                </a:solidFill>
              </a:rPr>
              <a:t>Messages vocaux (enregistrement + upload Supabase)</a:t>
            </a:r>
          </a:p>
          <a:p>
            <a:pPr>
              <a:spcBef>
                <a:spcPts val="400"/>
              </a:spcBef>
            </a:pPr>
            <a:r>
              <a:rPr sz="1500">
                <a:solidFill>
                  <a:srgbClr val="1A1A2E"/>
                </a:solidFill>
              </a:rPr>
              <a:t>Réactions aux messages (emojis)</a:t>
            </a:r>
          </a:p>
          <a:p>
            <a:pPr>
              <a:spcBef>
                <a:spcPts val="400"/>
              </a:spcBef>
            </a:pPr>
            <a:r>
              <a:rPr sz="1500">
                <a:solidFill>
                  <a:srgbClr val="1A1A2E"/>
                </a:solidFill>
              </a:rPr>
              <a:t>Appels vidéo via WebRTC (signaling WebSocket)</a:t>
            </a:r>
          </a:p>
          <a:p>
            <a:pPr>
              <a:spcBef>
                <a:spcPts val="400"/>
              </a:spcBef>
            </a:pPr>
            <a:r>
              <a:rPr sz="1500">
                <a:solidFill>
                  <a:srgbClr val="1A1A2E"/>
                </a:solidFill>
              </a:rPr>
              <a:t>Notifications push si l'utilisateur est hors ligne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4458"/>
        </a:solidFill>
        <a:effectLst/>
      </p:bgPr>
    </p:bg>
    <p:spTree>
      <p:nvGrpSpPr>
        <p:cNvPr id="1" name=""/>
        <p:cNvGrpSpPr/>
        <p:nvPr/>
      </p:nvGrpSpPr>
      <p:grpSpPr/>
      <p:sp>
        <p:nvSpPr>
          <p:cNvPr id="2" name="TextBox 1"/>
          <p:cNvSpPr txBox="1"/>
          <p:nvPr/>
        </p:nvSpPr>
        <p:spPr>
          <a:xfrm>
            <a:off x="457200" y="2560320"/>
            <a:ext cx="11247120" cy="1371600"/>
          </a:xfrm>
          <a:prstGeom prst="rect">
            <a:avLst/>
          </a:prstGeom>
          <a:noFill/>
        </p:spPr>
        <p:txBody>
          <a:bodyPr wrap="square">
            <a:spAutoFit/>
          </a:bodyPr>
          <a:lstStyle/>
          <a:p>
            <a:pPr algn="ctr"/>
            <a:r>
              <a:rPr sz="4800" b="1">
                <a:solidFill>
                  <a:srgbClr val="FFFFFF"/>
                </a:solidFill>
              </a:rPr>
              <a:t>Démonstration live</a:t>
            </a:r>
          </a:p>
        </p:txBody>
      </p:sp>
      <p:sp>
        <p:nvSpPr>
          <p:cNvPr id="3" name="TextBox 2"/>
          <p:cNvSpPr txBox="1"/>
          <p:nvPr/>
        </p:nvSpPr>
        <p:spPr>
          <a:xfrm>
            <a:off x="10515600" y="6217920"/>
            <a:ext cx="1371600" cy="457200"/>
          </a:xfrm>
          <a:prstGeom prst="rect">
            <a:avLst/>
          </a:prstGeom>
          <a:noFill/>
        </p:spPr>
        <p:txBody>
          <a:bodyPr wrap="square">
            <a:spAutoFit/>
          </a:bodyPr>
          <a:lstStyle/>
          <a:p>
            <a:pPr algn="r"/>
            <a:r>
              <a:rPr sz="1000" b="0">
                <a:solidFill>
                  <a:srgbClr val="FFFFFF"/>
                </a:solidFill>
              </a:rPr>
              <a:t>10/14</a:t>
            </a:r>
          </a:p>
        </p:txBody>
      </p:sp>
      <p:sp>
        <p:nvSpPr>
          <p:cNvPr id="4" name="TextBox 3"/>
          <p:cNvSpPr txBox="1"/>
          <p:nvPr/>
        </p:nvSpPr>
        <p:spPr>
          <a:xfrm>
            <a:off x="3200400" y="4114800"/>
            <a:ext cx="5486400" cy="2286000"/>
          </a:xfrm>
          <a:prstGeom prst="rect">
            <a:avLst/>
          </a:prstGeom>
          <a:noFill/>
        </p:spPr>
        <p:txBody>
          <a:bodyPr wrap="square">
            <a:spAutoFit/>
          </a:bodyPr>
          <a:lstStyle/>
          <a:p>
            <a:pPr>
              <a:spcBef>
                <a:spcPts val="400"/>
              </a:spcBef>
            </a:pPr>
            <a:r>
              <a:rPr sz="1500">
                <a:solidFill>
                  <a:srgbClr val="FFFFFF"/>
                </a:solidFill>
              </a:rPr>
              <a:t>Scénario :</a:t>
            </a:r>
          </a:p>
          <a:p>
            <a:pPr>
              <a:spcBef>
                <a:spcPts val="400"/>
              </a:spcBef>
            </a:pPr>
            <a:r>
              <a:rPr sz="1500">
                <a:solidFill>
                  <a:srgbClr val="FFFFFF"/>
                </a:solidFill>
              </a:rPr>
              <a:t/>
            </a:r>
          </a:p>
          <a:p>
            <a:pPr>
              <a:spcBef>
                <a:spcPts val="400"/>
              </a:spcBef>
            </a:pPr>
            <a:r>
              <a:rPr sz="1500">
                <a:solidFill>
                  <a:srgbClr val="FFFFFF"/>
                </a:solidFill>
              </a:rPr>
              <a:t>1.  HomeScreen → parcourir des profils</a:t>
            </a:r>
          </a:p>
          <a:p>
            <a:pPr>
              <a:spcBef>
                <a:spcPts val="400"/>
              </a:spcBef>
            </a:pPr>
            <a:r>
              <a:rPr sz="1500">
                <a:solidFill>
                  <a:srgbClr val="FFFFFF"/>
                </a:solidFill>
              </a:rPr>
              <a:t>2.  Swipe droit → son + vibration</a:t>
            </a:r>
          </a:p>
          <a:p>
            <a:pPr>
              <a:spcBef>
                <a:spcPts val="400"/>
              </a:spcBef>
            </a:pPr>
            <a:r>
              <a:rPr sz="1500">
                <a:solidFill>
                  <a:srgbClr val="FFFFFF"/>
                </a:solidFill>
              </a:rPr>
              <a:t>3.  Match → écran de match</a:t>
            </a:r>
          </a:p>
          <a:p>
            <a:pPr>
              <a:spcBef>
                <a:spcPts val="400"/>
              </a:spcBef>
            </a:pPr>
            <a:r>
              <a:rPr sz="1500">
                <a:solidFill>
                  <a:srgbClr val="FFFFFF"/>
                </a:solidFill>
              </a:rPr>
              <a:t>4.  Chat → envoyer un message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Concepts POO</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11/14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Classes · Encapsulation · Polymorphisme</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Classes Pydantic — héritage de BaseModel :</a:t>
            </a:r>
          </a:p>
          <a:p>
            <a:pPr>
              <a:spcBef>
                <a:spcPts val="400"/>
              </a:spcBef>
            </a:pPr>
            <a:r>
              <a:rPr sz="1500">
                <a:solidFill>
                  <a:srgbClr val="1A1A2E"/>
                </a:solidFill>
              </a:rPr>
              <a:t>   class UserCreate(BaseModel):</a:t>
            </a:r>
          </a:p>
          <a:p>
            <a:pPr>
              <a:spcBef>
                <a:spcPts val="400"/>
              </a:spcBef>
            </a:pPr>
            <a:r>
              <a:rPr sz="1500">
                <a:solidFill>
                  <a:srgbClr val="1A1A2E"/>
                </a:solidFill>
              </a:rPr>
              <a:t>       username: str</a:t>
            </a:r>
          </a:p>
          <a:p>
            <a:pPr>
              <a:spcBef>
                <a:spcPts val="400"/>
              </a:spcBef>
            </a:pPr>
            <a:r>
              <a:rPr sz="1500">
                <a:solidFill>
                  <a:srgbClr val="1A1A2E"/>
                </a:solidFill>
              </a:rPr>
              <a:t>       date_of_birth: str</a:t>
            </a:r>
          </a:p>
          <a:p>
            <a:pPr>
              <a:spcBef>
                <a:spcPts val="400"/>
              </a:spcBef>
            </a:pPr>
            <a:r>
              <a:rPr sz="1500">
                <a:solidFill>
                  <a:srgbClr val="1A1A2E"/>
                </a:solidFill>
              </a:rPr>
              <a:t>       gender: Optional[str] = None</a:t>
            </a:r>
          </a:p>
          <a:p>
            <a:pPr>
              <a:spcBef>
                <a:spcPts val="400"/>
              </a:spcBef>
            </a:pPr>
            <a:r>
              <a:rPr sz="1500">
                <a:solidFill>
                  <a:srgbClr val="1A1A2E"/>
                </a:solidFill>
              </a:rPr>
              <a:t/>
            </a:r>
          </a:p>
          <a:p>
            <a:pPr>
              <a:spcBef>
                <a:spcPts val="400"/>
              </a:spcBef>
            </a:pPr>
            <a:r>
              <a:rPr sz="1500">
                <a:solidFill>
                  <a:srgbClr val="1A1A2E"/>
                </a:solidFill>
              </a:rPr>
              <a:t>   class LikeAction(BaseModel):</a:t>
            </a:r>
          </a:p>
          <a:p>
            <a:pPr>
              <a:spcBef>
                <a:spcPts val="400"/>
              </a:spcBef>
            </a:pPr>
            <a:r>
              <a:rPr sz="1500">
                <a:solidFill>
                  <a:srgbClr val="1A1A2E"/>
                </a:solidFill>
              </a:rPr>
              <a:t>       user_id: str</a:t>
            </a:r>
          </a:p>
          <a:p>
            <a:pPr>
              <a:spcBef>
                <a:spcPts val="400"/>
              </a:spcBef>
            </a:pPr>
            <a:r>
              <a:rPr sz="1500">
                <a:solidFill>
                  <a:srgbClr val="1A1A2E"/>
                </a:solidFill>
              </a:rPr>
              <a:t>       liked_user_id: str</a:t>
            </a:r>
          </a:p>
          <a:p>
            <a:pPr>
              <a:spcBef>
                <a:spcPts val="400"/>
              </a:spcBef>
            </a:pPr>
            <a:r>
              <a:rPr sz="1500">
                <a:solidFill>
                  <a:srgbClr val="1A1A2E"/>
                </a:solidFill>
              </a:rPr>
              <a:t/>
            </a:r>
          </a:p>
          <a:p>
            <a:pPr>
              <a:spcBef>
                <a:spcPts val="400"/>
              </a:spcBef>
            </a:pPr>
            <a:r>
              <a:rPr sz="1500">
                <a:solidFill>
                  <a:srgbClr val="1A1A2E"/>
                </a:solidFill>
              </a:rPr>
              <a:t>Encapsulation : chaque Service encapsule sa logique métier</a:t>
            </a:r>
          </a:p>
          <a:p>
            <a:pPr>
              <a:spcBef>
                <a:spcPts val="400"/>
              </a:spcBef>
            </a:pPr>
            <a:r>
              <a:rPr sz="1500">
                <a:solidFill>
                  <a:srgbClr val="1A1A2E"/>
                </a:solidFill>
              </a:rPr>
              <a:t>Polymorphisme : FastAPI route handlers polymorphes selon le type HTTP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Usage de l'Intelligence Artificielle</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12/14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Claude (Anthropic) — outil d'accélération</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IA utilisée : Claude (Anthropic)</a:t>
            </a:r>
          </a:p>
          <a:p>
            <a:pPr>
              <a:spcBef>
                <a:spcPts val="400"/>
              </a:spcBef>
            </a:pPr>
            <a:r>
              <a:rPr sz="1500">
                <a:solidFill>
                  <a:srgbClr val="1A1A2E"/>
                </a:solidFill>
              </a:rPr>
              <a:t/>
            </a:r>
          </a:p>
          <a:p>
            <a:pPr>
              <a:spcBef>
                <a:spcPts val="400"/>
              </a:spcBef>
            </a:pPr>
            <a:r>
              <a:rPr sz="1500">
                <a:solidFill>
                  <a:srgbClr val="1A1A2E"/>
                </a:solidFill>
              </a:rPr>
              <a:t>Cas d'usage :</a:t>
            </a:r>
          </a:p>
          <a:p>
            <a:pPr>
              <a:spcBef>
                <a:spcPts val="400"/>
              </a:spcBef>
            </a:pPr>
            <a:r>
              <a:rPr sz="1500">
                <a:solidFill>
                  <a:srgbClr val="1A1A2E"/>
                </a:solidFill>
              </a:rPr>
              <a:t>   • Structure initiale des écrans React Native</a:t>
            </a:r>
          </a:p>
          <a:p>
            <a:pPr>
              <a:spcBef>
                <a:spcPts val="400"/>
              </a:spcBef>
            </a:pPr>
            <a:r>
              <a:rPr sz="1500">
                <a:solidFill>
                  <a:srgbClr val="1A1A2E"/>
                </a:solidFill>
              </a:rPr>
              <a:t>   • Algorithme Haversine (distance GPS)</a:t>
            </a:r>
          </a:p>
          <a:p>
            <a:pPr>
              <a:spcBef>
                <a:spcPts val="400"/>
              </a:spcBef>
            </a:pPr>
            <a:r>
              <a:rPr sz="1500">
                <a:solidFill>
                  <a:srgbClr val="1A1A2E"/>
                </a:solidFill>
              </a:rPr>
              <a:t>   • Logique WebSocket (messagerie temps réel)</a:t>
            </a:r>
          </a:p>
          <a:p>
            <a:pPr>
              <a:spcBef>
                <a:spcPts val="400"/>
              </a:spcBef>
            </a:pPr>
            <a:r>
              <a:rPr sz="1500">
                <a:solidFill>
                  <a:srgbClr val="1A1A2E"/>
                </a:solidFill>
              </a:rPr>
              <a:t>   • Composant SwipeCard (animations PanResponder)</a:t>
            </a:r>
          </a:p>
          <a:p>
            <a:pPr>
              <a:spcBef>
                <a:spcPts val="400"/>
              </a:spcBef>
            </a:pPr>
            <a:r>
              <a:rPr sz="1500">
                <a:solidFill>
                  <a:srgbClr val="1A1A2E"/>
                </a:solidFill>
              </a:rPr>
              <a:t>   • Gestion des sons et vibrations</a:t>
            </a:r>
          </a:p>
          <a:p>
            <a:pPr>
              <a:spcBef>
                <a:spcPts val="400"/>
              </a:spcBef>
            </a:pPr>
            <a:r>
              <a:rPr sz="1500">
                <a:solidFill>
                  <a:srgbClr val="1A1A2E"/>
                </a:solidFill>
              </a:rPr>
              <a:t/>
            </a:r>
          </a:p>
          <a:p>
            <a:pPr>
              <a:spcBef>
                <a:spcPts val="400"/>
              </a:spcBef>
            </a:pPr>
            <a:r>
              <a:rPr sz="1500">
                <a:solidFill>
                  <a:srgbClr val="1A1A2E"/>
                </a:solidFill>
              </a:rPr>
              <a:t>Tout le code IA est déclaré :</a:t>
            </a:r>
          </a:p>
          <a:p>
            <a:pPr>
              <a:spcBef>
                <a:spcPts val="400"/>
              </a:spcBef>
            </a:pPr>
            <a:r>
              <a:rPr sz="1500">
                <a:solidFill>
                  <a:srgbClr val="1A1A2E"/>
                </a:solidFill>
              </a:rPr>
              <a:t>   # ############### CODE IA (Claude) ###############</a:t>
            </a:r>
          </a:p>
          <a:p>
            <a:pPr>
              <a:spcBef>
                <a:spcPts val="400"/>
              </a:spcBef>
            </a:pPr>
            <a:r>
              <a:rPr sz="1500">
                <a:solidFill>
                  <a:srgbClr val="1A1A2E"/>
                </a:solidFill>
              </a:rPr>
              <a:t/>
            </a:r>
          </a:p>
          <a:p>
            <a:pPr>
              <a:spcBef>
                <a:spcPts val="400"/>
              </a:spcBef>
            </a:pPr>
            <a:r>
              <a:rPr sz="1500">
                <a:solidFill>
                  <a:srgbClr val="1A1A2E"/>
                </a:solidFill>
              </a:rPr>
              <a:t>Fait manuellement : architecture, schéma BDD, intégration Supabase, tests, UX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8FA"/>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23444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144000" cy="658368"/>
          </a:xfrm>
          <a:prstGeom prst="rect">
            <a:avLst/>
          </a:prstGeom>
          <a:noFill/>
        </p:spPr>
        <p:txBody>
          <a:bodyPr wrap="square">
            <a:spAutoFit/>
          </a:bodyPr>
          <a:lstStyle/>
          <a:p>
            <a:pPr algn="l"/>
            <a:r>
              <a:rPr sz="2400" b="1">
                <a:solidFill>
                  <a:srgbClr val="FFFFFF"/>
                </a:solidFill>
              </a:rPr>
              <a:t>Difficultés rencontrées</a:t>
            </a:r>
          </a:p>
        </p:txBody>
      </p:sp>
      <p:sp>
        <p:nvSpPr>
          <p:cNvPr id="5" name="TextBox 4"/>
          <p:cNvSpPr txBox="1"/>
          <p:nvPr/>
        </p:nvSpPr>
        <p:spPr>
          <a:xfrm>
            <a:off x="10515600" y="164592"/>
            <a:ext cx="1463040" cy="548640"/>
          </a:xfrm>
          <a:prstGeom prst="rect">
            <a:avLst/>
          </a:prstGeom>
          <a:noFill/>
        </p:spPr>
        <p:txBody>
          <a:bodyPr wrap="square">
            <a:spAutoFit/>
          </a:bodyPr>
          <a:lstStyle/>
          <a:p>
            <a:pPr algn="r"/>
            <a:r>
              <a:rPr sz="1200" b="0">
                <a:solidFill>
                  <a:srgbClr val="6B7280"/>
                </a:solidFill>
              </a:rPr>
              <a:t>13/14</a:t>
            </a:r>
          </a:p>
        </p:txBody>
      </p:sp>
      <p:sp>
        <p:nvSpPr>
          <p:cNvPr id="6" name="TextBox 5"/>
          <p:cNvSpPr txBox="1"/>
          <p:nvPr/>
        </p:nvSpPr>
        <p:spPr>
          <a:xfrm>
            <a:off x="457200" y="713232"/>
            <a:ext cx="10972800" cy="411480"/>
          </a:xfrm>
          <a:prstGeom prst="rect">
            <a:avLst/>
          </a:prstGeom>
          <a:noFill/>
        </p:spPr>
        <p:txBody>
          <a:bodyPr wrap="square">
            <a:spAutoFit/>
          </a:bodyPr>
          <a:lstStyle/>
          <a:p>
            <a:pPr algn="l"/>
            <a:r>
              <a:rPr sz="1300" b="0">
                <a:solidFill>
                  <a:srgbClr val="FF4458"/>
                </a:solidFill>
              </a:rPr>
              <a:t>Problèmes → Solutions</a:t>
            </a:r>
          </a:p>
        </p:txBody>
      </p:sp>
      <p:sp>
        <p:nvSpPr>
          <p:cNvPr id="7" name="TextBox 6"/>
          <p:cNvSpPr txBox="1"/>
          <p:nvPr/>
        </p:nvSpPr>
        <p:spPr>
          <a:xfrm>
            <a:off x="640080" y="1371600"/>
            <a:ext cx="10881360" cy="5212080"/>
          </a:xfrm>
          <a:prstGeom prst="rect">
            <a:avLst/>
          </a:prstGeom>
          <a:noFill/>
        </p:spPr>
        <p:txBody>
          <a:bodyPr wrap="square">
            <a:spAutoFit/>
          </a:bodyPr>
          <a:lstStyle/>
          <a:p>
            <a:pPr>
              <a:spcBef>
                <a:spcPts val="400"/>
              </a:spcBef>
            </a:pPr>
            <a:r>
              <a:rPr sz="1500">
                <a:solidFill>
                  <a:srgbClr val="1A1A2E"/>
                </a:solidFill>
              </a:rPr>
              <a:t>WebSocket mobile</a:t>
            </a:r>
          </a:p>
          <a:p>
            <a:pPr>
              <a:spcBef>
                <a:spcPts val="400"/>
              </a:spcBef>
            </a:pPr>
            <a:r>
              <a:rPr sz="1500">
                <a:solidFill>
                  <a:srgbClr val="1A1A2E"/>
                </a:solidFill>
              </a:rPr>
              <a:t>   Connexion coupée en arrière-plan</a:t>
            </a:r>
          </a:p>
          <a:p>
            <a:pPr>
              <a:spcBef>
                <a:spcPts val="400"/>
              </a:spcBef>
            </a:pPr>
            <a:r>
              <a:rPr sz="1500">
                <a:solidFill>
                  <a:srgbClr val="1A1A2E"/>
                </a:solidFill>
              </a:rPr>
              <a:t>   → Reconnexion automatique + ping keepalive</a:t>
            </a:r>
          </a:p>
          <a:p>
            <a:pPr>
              <a:spcBef>
                <a:spcPts val="400"/>
              </a:spcBef>
            </a:pPr>
            <a:r>
              <a:rPr sz="1500">
                <a:solidFill>
                  <a:srgbClr val="1A1A2E"/>
                </a:solidFill>
              </a:rPr>
              <a:t/>
            </a:r>
          </a:p>
          <a:p>
            <a:pPr>
              <a:spcBef>
                <a:spcPts val="400"/>
              </a:spcBef>
            </a:pPr>
            <a:r>
              <a:rPr sz="1500">
                <a:solidFill>
                  <a:srgbClr val="1A1A2E"/>
                </a:solidFill>
              </a:rPr>
              <a:t>DatePicker cross-platform</a:t>
            </a:r>
          </a:p>
          <a:p>
            <a:pPr>
              <a:spcBef>
                <a:spcPts val="400"/>
              </a:spcBef>
            </a:pPr>
            <a:r>
              <a:rPr sz="1500">
                <a:solidFill>
                  <a:srgbClr val="1A1A2E"/>
                </a:solidFill>
              </a:rPr>
              <a:t>   iOS et Android se comportent différemment</a:t>
            </a:r>
          </a:p>
          <a:p>
            <a:pPr>
              <a:spcBef>
                <a:spcPts val="400"/>
              </a:spcBef>
            </a:pPr>
            <a:r>
              <a:rPr sz="1500">
                <a:solidFill>
                  <a:srgbClr val="1A1A2E"/>
                </a:solidFill>
              </a:rPr>
              <a:t>   → Mode spinner (iOS) / dialog (Android) avec gestion séparée</a:t>
            </a:r>
          </a:p>
          <a:p>
            <a:pPr>
              <a:spcBef>
                <a:spcPts val="400"/>
              </a:spcBef>
            </a:pPr>
            <a:r>
              <a:rPr sz="1500">
                <a:solidFill>
                  <a:srgbClr val="1A1A2E"/>
                </a:solidFill>
              </a:rPr>
              <a:t/>
            </a:r>
          </a:p>
          <a:p>
            <a:pPr>
              <a:spcBef>
                <a:spcPts val="400"/>
              </a:spcBef>
            </a:pPr>
            <a:r>
              <a:rPr sz="1500">
                <a:solidFill>
                  <a:srgbClr val="1A1A2E"/>
                </a:solidFill>
              </a:rPr>
              <a:t>Performance du swipe</a:t>
            </a:r>
          </a:p>
          <a:p>
            <a:pPr>
              <a:spcBef>
                <a:spcPts val="400"/>
              </a:spcBef>
            </a:pPr>
            <a:r>
              <a:rPr sz="1500">
                <a:solidFill>
                  <a:srgbClr val="1A1A2E"/>
                </a:solidFill>
              </a:rPr>
              <a:t>   Animations saccadées avec beaucoup de profils</a:t>
            </a:r>
          </a:p>
          <a:p>
            <a:pPr>
              <a:spcBef>
                <a:spcPts val="400"/>
              </a:spcBef>
            </a:pPr>
            <a:r>
              <a:rPr sz="1500">
                <a:solidFill>
                  <a:srgbClr val="1A1A2E"/>
                </a:solidFill>
              </a:rPr>
              <a:t>   → useNativeDriver + préchargement de la carte suivante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48640" cy="685800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65760"/>
            <a:ext cx="10058400" cy="822960"/>
          </a:xfrm>
          <a:prstGeom prst="rect">
            <a:avLst/>
          </a:prstGeom>
          <a:noFill/>
        </p:spPr>
        <p:txBody>
          <a:bodyPr wrap="square">
            <a:spAutoFit/>
          </a:bodyPr>
          <a:lstStyle/>
          <a:p>
            <a:pPr algn="l"/>
            <a:r>
              <a:rPr sz="2800" b="1">
                <a:solidFill>
                  <a:srgbClr val="FFFFFF"/>
                </a:solidFill>
              </a:rPr>
              <a:t>Conclusion &amp; Perspectives</a:t>
            </a:r>
          </a:p>
        </p:txBody>
      </p:sp>
      <p:sp>
        <p:nvSpPr>
          <p:cNvPr id="4" name="Rectangle 3"/>
          <p:cNvSpPr/>
          <p:nvPr/>
        </p:nvSpPr>
        <p:spPr>
          <a:xfrm>
            <a:off x="914400" y="1234440"/>
            <a:ext cx="2286000" cy="45720"/>
          </a:xfrm>
          <a:prstGeom prst="rect">
            <a:avLst/>
          </a:prstGeom>
          <a:solidFill>
            <a:srgbClr val="FF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6217920"/>
            <a:ext cx="1371600" cy="457200"/>
          </a:xfrm>
          <a:prstGeom prst="rect">
            <a:avLst/>
          </a:prstGeom>
          <a:noFill/>
        </p:spPr>
        <p:txBody>
          <a:bodyPr wrap="square">
            <a:spAutoFit/>
          </a:bodyPr>
          <a:lstStyle/>
          <a:p>
            <a:pPr algn="r"/>
            <a:r>
              <a:rPr sz="1000" b="0">
                <a:solidFill>
                  <a:srgbClr val="6B7280"/>
                </a:solidFill>
              </a:rPr>
              <a:t>14/14</a:t>
            </a:r>
          </a:p>
        </p:txBody>
      </p:sp>
      <p:sp>
        <p:nvSpPr>
          <p:cNvPr id="6" name="TextBox 5"/>
          <p:cNvSpPr txBox="1"/>
          <p:nvPr/>
        </p:nvSpPr>
        <p:spPr>
          <a:xfrm>
            <a:off x="914400" y="1371600"/>
            <a:ext cx="10058400" cy="5029200"/>
          </a:xfrm>
          <a:prstGeom prst="rect">
            <a:avLst/>
          </a:prstGeom>
          <a:noFill/>
        </p:spPr>
        <p:txBody>
          <a:bodyPr wrap="square">
            <a:spAutoFit/>
          </a:bodyPr>
          <a:lstStyle/>
          <a:p>
            <a:pPr>
              <a:spcBef>
                <a:spcPts val="400"/>
              </a:spcBef>
            </a:pPr>
            <a:r>
              <a:rPr sz="1500">
                <a:solidFill>
                  <a:srgbClr val="FFFFFF"/>
                </a:solidFill>
              </a:rPr>
              <a:t>Ce projet m'a permis de :</a:t>
            </a:r>
          </a:p>
          <a:p>
            <a:pPr>
              <a:spcBef>
                <a:spcPts val="400"/>
              </a:spcBef>
            </a:pPr>
            <a:r>
              <a:rPr sz="1500">
                <a:solidFill>
                  <a:srgbClr val="FFFFFF"/>
                </a:solidFill>
              </a:rPr>
              <a:t>   ✓  Concevoir une architecture fullstack complète</a:t>
            </a:r>
          </a:p>
          <a:p>
            <a:pPr>
              <a:spcBef>
                <a:spcPts val="400"/>
              </a:spcBef>
            </a:pPr>
            <a:r>
              <a:rPr sz="1500">
                <a:solidFill>
                  <a:srgbClr val="FFFFFF"/>
                </a:solidFill>
              </a:rPr>
              <a:t>   ✓  Travailler avec des APIs temps réel (WebSocket)</a:t>
            </a:r>
          </a:p>
          <a:p>
            <a:pPr>
              <a:spcBef>
                <a:spcPts val="400"/>
              </a:spcBef>
            </a:pPr>
            <a:r>
              <a:rPr sz="1500">
                <a:solidFill>
                  <a:srgbClr val="FFFFFF"/>
                </a:solidFill>
              </a:rPr>
              <a:t>   ✓  Gérer la géolocalisation et les notifications push</a:t>
            </a:r>
          </a:p>
          <a:p>
            <a:pPr>
              <a:spcBef>
                <a:spcPts val="400"/>
              </a:spcBef>
            </a:pPr>
            <a:r>
              <a:rPr sz="1500">
                <a:solidFill>
                  <a:srgbClr val="FFFFFF"/>
                </a:solidFill>
              </a:rPr>
              <a:t>   ✓  Utiliser l'IA comme outil de développement</a:t>
            </a:r>
          </a:p>
          <a:p>
            <a:pPr>
              <a:spcBef>
                <a:spcPts val="400"/>
              </a:spcBef>
            </a:pPr>
            <a:r>
              <a:rPr sz="1500">
                <a:solidFill>
                  <a:srgbClr val="FFFFFF"/>
                </a:solidFill>
              </a:rPr>
              <a:t/>
            </a:r>
          </a:p>
          <a:p>
            <a:pPr>
              <a:spcBef>
                <a:spcPts val="400"/>
              </a:spcBef>
            </a:pPr>
            <a:r>
              <a:rPr sz="1500">
                <a:solidFill>
                  <a:srgbClr val="FFFFFF"/>
                </a:solidFill>
              </a:rPr>
              <a:t>Améliorations possibles :</a:t>
            </a:r>
          </a:p>
          <a:p>
            <a:pPr>
              <a:spcBef>
                <a:spcPts val="400"/>
              </a:spcBef>
            </a:pPr>
            <a:r>
              <a:rPr sz="1500">
                <a:solidFill>
                  <a:srgbClr val="FFFFFF"/>
                </a:solidFill>
              </a:rPr>
              <a:t>   →  Algorithme de recommandation (score de compatibilité)</a:t>
            </a:r>
          </a:p>
          <a:p>
            <a:pPr>
              <a:spcBef>
                <a:spcPts val="400"/>
              </a:spcBef>
            </a:pPr>
            <a:r>
              <a:rPr sz="1500">
                <a:solidFill>
                  <a:srgbClr val="FFFFFF"/>
                </a:solidFill>
              </a:rPr>
              <a:t>   →  Vérification d'identité (photo selfie)</a:t>
            </a:r>
          </a:p>
          <a:p>
            <a:pPr>
              <a:spcBef>
                <a:spcPts val="400"/>
              </a:spcBef>
            </a:pPr>
            <a:r>
              <a:rPr sz="1500">
                <a:solidFill>
                  <a:srgbClr val="FFFFFF"/>
                </a:solidFill>
              </a:rPr>
              <a:t>   →  Abonnement premium (boosts, super likes)</a:t>
            </a:r>
          </a:p>
          <a:p>
            <a:pPr>
              <a:spcBef>
                <a:spcPts val="400"/>
              </a:spcBef>
            </a:pPr>
            <a:r>
              <a:rPr sz="1500">
                <a:solidFill>
                  <a:srgbClr val="FFFFFF"/>
                </a:solidFill>
              </a:rPr>
              <a:t>   →  Modération automatique des photos (IA)</a:t>
            </a:r>
          </a:p>
          <a:p>
            <a:pPr>
              <a:spcBef>
                <a:spcPts val="400"/>
              </a:spcBef>
            </a:pPr>
            <a:r>
              <a:rPr sz="1500">
                <a:solidFill>
                  <a:srgbClr val="FFFFFF"/>
                </a:solidFill>
              </a:rPr>
              <a:t/>
            </a:r>
          </a:p>
          <a:p>
            <a:pPr>
              <a:spcBef>
                <a:spcPts val="400"/>
              </a:spcBef>
            </a:pPr>
            <a:r>
              <a:rPr sz="1500">
                <a:solidFill>
                  <a:srgbClr val="FFFFFF"/>
                </a:solidFill>
              </a:rPr>
              <a:t>Merci —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